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2834640"/>
            <a:ext cx="11987784" cy="54864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BA6F7"/>
                </a:solidFill>
              </a:rPr>
              <a:t>Smart Campus Asset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DD6F4"/>
                </a:solidFill>
              </a:rPr>
              <a:t>University Asset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9B4FA"/>
                </a:solidFill>
              </a:rPr>
              <a:t>DSA Course Project  ·  SEng2022  ·  Debre Berhan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5475A"/>
                </a:solidFill>
              </a:rPr>
              <a:t>Built With:  C++17  ·  Qt 6  ·  Oracle XE  ·  DSAEngine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E3A1"/>
                </a:solidFill>
              </a:rPr>
              <a:t>Covers all 9 Chapters  ·  Chapters 1–9  ·  CLO 1–7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1645920" cy="34747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1480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5120640"/>
            <a:ext cx="1645920" cy="34747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51480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Linked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120640"/>
            <a:ext cx="1645920" cy="34747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51480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BST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120640"/>
            <a:ext cx="1645920" cy="34747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51480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Graph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5120640"/>
            <a:ext cx="1645920" cy="34747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51480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Merge Sort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5120640"/>
            <a:ext cx="1645920" cy="34747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51480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Greedy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2618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31673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2677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Oracle DB &amp; 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2735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2841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Ch.1 Complexity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42793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3425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Ch.2 Bubble &amp; Selection Sort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1208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52852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4009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Ch.3 Linked 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18872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12618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31673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Ch.4 Stack &amp; Queue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19456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22677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32257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Ch.5 Recursion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20040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2735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32841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Ch.6 Binary Search Tree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20624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42793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33425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Ch.7 Graph BFS/DFS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21208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52852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34009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Ch.8 Merge Sort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18872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12618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131673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Ch.9 Greedy / D&amp;C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19456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22677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232257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Oracle Reset &amp; Test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20040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7" y="32735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332841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Security Testing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20624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42793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33425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Live Demo Guide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5212080"/>
            <a:ext cx="3657600" cy="749808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52852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534009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Conclusion &amp; Grade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Smart Campus Asset Manager — what it does and who uses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657600" cy="1234440"/>
          </a:xfrm>
          <a:prstGeom prst="rect">
            <a:avLst/>
          </a:prstGeom>
          <a:solidFill>
            <a:srgbClr val="242437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</a:rPr>
              <a:t>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Full access: add/delete assets, manage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188720"/>
            <a:ext cx="3657600" cy="1234440"/>
          </a:xfrm>
          <a:prstGeom prst="rect">
            <a:avLst/>
          </a:prstGeom>
          <a:solidFill>
            <a:srgbClr val="242437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</a:rPr>
              <a:t>TECHNICIAN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Maintenance + asset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188720"/>
            <a:ext cx="3657600" cy="1234440"/>
          </a:xfrm>
          <a:prstGeom prst="rect">
            <a:avLst/>
          </a:prstGeom>
          <a:solidFill>
            <a:srgbClr val="242437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Campus exit/return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51760"/>
            <a:ext cx="3657600" cy="1234440"/>
          </a:xfrm>
          <a:prstGeom prst="rect">
            <a:avLst/>
          </a:prstGeom>
          <a:solidFill>
            <a:srgbClr val="242437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614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</a:rPr>
              <a:t>AUDITOR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Read-only asset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2651760"/>
            <a:ext cx="3657600" cy="1234440"/>
          </a:xfrm>
          <a:prstGeom prst="rect">
            <a:avLst/>
          </a:prstGeom>
          <a:solidFill>
            <a:srgbClr val="242437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7614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54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My items + maintenance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172200"/>
            <a:ext cx="1152144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6208776"/>
            <a:ext cx="1130198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All 5 roles use the same app — access is controlled by role-based policy in widget.cpp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How the UI, DSAEngine, and Oracle DB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1325880"/>
          </a:xfrm>
          <a:prstGeom prst="rect">
            <a:avLst/>
          </a:prstGeom>
          <a:solidFill>
            <a:srgbClr val="202030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9728" cy="132588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441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BA6F7"/>
                </a:solidFill>
              </a:rPr>
              <a:t>Qt 6 GUI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widget.cpp · assetwindow.cpp · securitycheckwindow.cpp
maintenancewindow.cpp · campusgraphwindow.cpp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5475A"/>
                </a:solidFill>
              </a:rPr>
              <a:t>↕ calls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11430000" cy="1325880"/>
          </a:xfrm>
          <a:prstGeom prst="rect">
            <a:avLst/>
          </a:prstGeom>
          <a:solidFill>
            <a:srgbClr val="202030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109728" cy="1325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DSAEngine  (dsaengine.h / dsaengine.cpp)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Stack · Linked List · BST · Graph · Merge Sort · Greedy Sort
All pure C++ — no Qt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5475A"/>
                </a:solidFill>
              </a:rPr>
              <a:t>↕ calls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11430000" cy="1325880"/>
          </a:xfrm>
          <a:prstGeom prst="rect">
            <a:avLst/>
          </a:prstGeom>
          <a:solidFill>
            <a:srgbClr val="202030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434840"/>
            <a:ext cx="109728" cy="132588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445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Oracle XE Database  (localhost:1522/xe)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79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Tables: ASSETS · STUDENT_ITEMS · MAINTENANCE_LOG · USERS · LOST_FOUND
Stored Procs: SP_REPORT_ISSUE · SP_RESOLVE_MAINTENANCE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Oracle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Tables used by the Smart Campus Manager — Oracle XE  localhost:1522/xe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6576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657600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3444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B"/>
                </a:solidFill>
              </a:rPr>
              <a:t>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664208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ASSET_ID(PK) · ASSET_NAME · CATEGORY
SERIAL_NUMBER · PURCHASE_VALUE · CONDITION
LOCATION_ID(FK) · CREATED_BY · UPDATED_AT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88720"/>
            <a:ext cx="36576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188720"/>
            <a:ext cx="3657600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23444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B"/>
                </a:solidFill>
              </a:rPr>
              <a:t>STUDENT_ITEMS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664208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ITEM_ID(PK) · STUDENT_ID(FK) · ITEM_NAME
CATEGORY · BRAND · SERIAL_NUMBER · STATUS
STATUS: REGISTERED | OUT_OF_CAMPUS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188720"/>
            <a:ext cx="36576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188720"/>
            <a:ext cx="3657600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123444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B"/>
                </a:solidFill>
              </a:rPr>
              <a:t>MAINTENANCE_LOG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1664208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MAINTENANCE_ID(PK) · ASSET_ID(FK) · REPORTED_BY(FK)
DESCRIPTION · PRIORITY · STATUS · REPORTED_AT
PRIORITY: URGENT|HIGH|NORMAL|LOW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66160"/>
            <a:ext cx="36576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566160"/>
            <a:ext cx="3657600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61188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B"/>
                </a:solidFill>
              </a:rP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041648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USER_ID(PK) · FULL_NAME · STUDENT_ID
EMAIL · ROLE · PASSWORD_HASH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566160"/>
            <a:ext cx="36576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3566160"/>
            <a:ext cx="3657600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361188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B"/>
                </a:solidFill>
              </a:rPr>
              <a:t>LOST_FOUND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4041648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LF_ID(PK) · REPORTED_BY(FK) · ITEM_TYPE
DESCRIPTION · LOCATION · STATUS · REPORTED_AT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566160"/>
            <a:ext cx="36576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566160"/>
            <a:ext cx="3657600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7" y="361188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11B"/>
                </a:solidFill>
              </a:rPr>
              <a:t>LOCATIONS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7" y="4041648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LOCATION_ID(PK) · BUILDING_NAME
ROOM_NUMBER · FLOOR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Complexity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Big-O · Omega · Theta · Asymptotic Notation · Complexity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Asymptotic 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How we measure algorithm efficiency — independent of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011680"/>
          </a:xfrm>
          <a:prstGeom prst="rect">
            <a:avLst/>
          </a:prstGeom>
          <a:solidFill>
            <a:srgbClr val="222233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38BA8"/>
                </a:solidFill>
              </a:rPr>
              <a:t>O (Big-O)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Upper bound — WORST case
O(n²) means: no worse than n²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657600" cy="2011680"/>
          </a:xfrm>
          <a:prstGeom prst="rect">
            <a:avLst/>
          </a:prstGeom>
          <a:solidFill>
            <a:srgbClr val="222233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6E3A1"/>
                </a:solidFill>
              </a:rPr>
              <a:t>Ω (Omega)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Lower bound — BEST case
Ω(n) means: at least n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657600" cy="2011680"/>
          </a:xfrm>
          <a:prstGeom prst="rect">
            <a:avLst/>
          </a:prstGeom>
          <a:solidFill>
            <a:srgbClr val="222233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9B4FA"/>
                </a:solidFill>
              </a:rPr>
              <a:t>Θ (Theta)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Tight bound — EXACT growth
Θ(n log n) = both upper and lower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BA6F7"/>
                </a:solidFill>
              </a:rPr>
              <a:t>Common Complexity Classes in Our Project: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2176272" cy="1371600"/>
          </a:xfrm>
          <a:prstGeom prst="rect">
            <a:avLst/>
          </a:prstGeom>
          <a:solidFill>
            <a:srgbClr val="1A1A2A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136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O(1)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Constant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36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B4FA"/>
                </a:solidFill>
              </a:rPr>
              <a:t>Stack push/pop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79" y="3840480"/>
            <a:ext cx="2176272" cy="1371600"/>
          </a:xfrm>
          <a:prstGeom prst="rect">
            <a:avLst/>
          </a:prstGeom>
          <a:solidFill>
            <a:srgbClr val="1A1A2A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9136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O(log 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Logarithmic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636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B4FA"/>
                </a:solidFill>
              </a:rPr>
              <a:t>BST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840480"/>
            <a:ext cx="2176272" cy="1371600"/>
          </a:xfrm>
          <a:prstGeom prst="rect">
            <a:avLst/>
          </a:prstGeom>
          <a:solidFill>
            <a:srgbClr val="1A1A2A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9136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O(n)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Linear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636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B4FA"/>
                </a:solidFill>
              </a:rPr>
              <a:t>Linear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19" y="3840480"/>
            <a:ext cx="2176272" cy="1371600"/>
          </a:xfrm>
          <a:prstGeom prst="rect">
            <a:avLst/>
          </a:prstGeom>
          <a:solidFill>
            <a:srgbClr val="1A1A2A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59" y="39136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O(n log 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Log-linear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4636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B4FA"/>
                </a:solidFill>
              </a:rPr>
              <a:t>Merge Sort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3840480"/>
            <a:ext cx="2176272" cy="1371600"/>
          </a:xfrm>
          <a:prstGeom prst="rect">
            <a:avLst/>
          </a:prstGeom>
          <a:solidFill>
            <a:srgbClr val="1A1A2A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39136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O(n²)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Quadratic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636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B4FA"/>
                </a:solidFill>
              </a:rPr>
              <a:t>Bubble Sort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486400"/>
            <a:ext cx="1143000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522976"/>
            <a:ext cx="1121054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In our code: every algorithm in dsaengine.cpp has its Big-O in the comment header above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Complexity in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Every DSAEngine operation — time and space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38404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Algorithm /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12344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Best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2344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2344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Worst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123444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2344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Location in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72768"/>
            <a:ext cx="1161288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62763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Bubble 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162763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38BA8"/>
                </a:solidFill>
              </a:rPr>
              <a:t>O(n²)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62763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38BA8"/>
                </a:solidFill>
              </a:rPr>
              <a:t>O(n²)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62763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38BA8"/>
                </a:solidFill>
              </a:rPr>
              <a:t>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62763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627632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bubbleSortById/Value()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011680"/>
            <a:ext cx="11612880" cy="420624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06654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Selection Sort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206654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38BA8"/>
                </a:solidFill>
              </a:rPr>
              <a:t>O(n²)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06654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38BA8"/>
                </a:solidFill>
              </a:rPr>
              <a:t>O(n²)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06654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38BA8"/>
                </a:solidFill>
              </a:rPr>
              <a:t>O(n²)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06654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066544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selectionSortByName/Location()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50591"/>
            <a:ext cx="1161288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50545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Merge Sort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250545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O(n log 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50545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O(n log 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250545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O(n log 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250545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50545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mergeSortByValue/Name()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889504"/>
            <a:ext cx="11612880" cy="420624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94436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Stack push/pop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79" y="294436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B4FA"/>
                </a:solidFill>
              </a:rPr>
              <a:t>O(1)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294436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B4FA"/>
                </a:solidFill>
              </a:rPr>
              <a:t>O(1)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294436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B4FA"/>
                </a:solidFill>
              </a:rPr>
              <a:t>O(1)*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294436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944368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pushUndo() / popUndo()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328415"/>
            <a:ext cx="1161288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383279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LL Enqueue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79" y="3383279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B4FA"/>
                </a:solidFill>
              </a:rPr>
              <a:t>O(1)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338327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B4FA"/>
                </a:solidFill>
              </a:rPr>
              <a:t>O(1)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38327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B4FA"/>
                </a:solidFill>
              </a:rPr>
              <a:t>O(1)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59" y="3383279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3383279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llEnqueue()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767328"/>
            <a:ext cx="11612880" cy="420624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822191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LL Dequeue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79" y="3822191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B4FA"/>
                </a:solidFill>
              </a:rPr>
              <a:t>O(1)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3822191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B4FA"/>
                </a:solidFill>
              </a:rPr>
              <a:t>O(1)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3822191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B4FA"/>
                </a:solidFill>
              </a:rPr>
              <a:t>O(1)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59" y="3822191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3822191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llDequeue()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206240"/>
            <a:ext cx="1161288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261103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BST Insert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1879" y="4261103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O(log 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7720" y="4261103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O(log 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4261103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O(n)**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59" y="4261103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4261103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bstInsertHelper()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645152"/>
            <a:ext cx="11612880" cy="420624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47000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BST Search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11879" y="47000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O(log 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17720" y="470001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O(log n)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470001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O(n)**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59" y="47000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O(1)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09560" y="470001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bstSearchHelper()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5084064"/>
            <a:ext cx="1161288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5138927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Graph BFS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11879" y="5138927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O(V+E)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7720" y="5138927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O(V+E)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06440" y="5138927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O(V+E)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95159" y="5138927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O(V)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09560" y="5138927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graphBFS()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522976"/>
            <a:ext cx="11612880" cy="420624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57784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Graph DFS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11879" y="557784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O(V+E)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17720" y="55778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O(V+E)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06440" y="55778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6E3A1"/>
                </a:solidFill>
              </a:rPr>
              <a:t>O(V+E)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5159" y="557784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O(V)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09560" y="557784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DD6F4"/>
                </a:solidFill>
              </a:rPr>
              <a:t>graphDFS()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" y="6172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475A"/>
                </a:solidFill>
              </a:rPr>
              <a:t>* Capped at MAX_STACK_SIZE=20  ** Only when all keys inserted in sorted order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Simple Sorting &amp; Searching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Bubble Sort · Selection Sort · Linear Search  —  O(n²)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Bubble Sort —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Repeatedly swap adjacent elements if out of order  ·  O(n²)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E2AF"/>
                </a:solidFill>
              </a:rPr>
              <a:t>Trace  [64, 34, 25, 12, 22]  →  sorted ascending by ID: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486400" cy="1143000"/>
          </a:xfrm>
          <a:prstGeom prst="rect">
            <a:avLst/>
          </a:prstGeom>
          <a:solidFill>
            <a:srgbClr val="202030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</a:rPr>
              <a:t>Pass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[34, 25, 12, 22, 64]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04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64 bubbled to 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143000"/>
          </a:xfrm>
          <a:prstGeom prst="rect">
            <a:avLst/>
          </a:prstGeom>
          <a:solidFill>
            <a:srgbClr val="202030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</a:rPr>
              <a:t>Pass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[25, 12, 22, 34, 64]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04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34 bubbled to 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5486400" cy="1143000"/>
          </a:xfrm>
          <a:prstGeom prst="rect">
            <a:avLst/>
          </a:prstGeom>
          <a:solidFill>
            <a:srgbClr val="202030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</a:rPr>
              <a:t>Pass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[12, 22, 25, 34, 64]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30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25 in 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5486400" cy="1143000"/>
          </a:xfrm>
          <a:prstGeom prst="rect">
            <a:avLst/>
          </a:prstGeom>
          <a:solidFill>
            <a:srgbClr val="202030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</a:rPr>
              <a:t>Pass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83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[12, 22, 25, 34, 64]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30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Sorted!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2560320" cy="29260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53127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Time: O(n²)  ·  Space: O(1)  ·  In-place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1143000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065776"/>
            <a:ext cx="1121054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In our app: bubbleSortById() and bubbleSortByValue() in dsaengine.cpp — used in Asset Manager sort dropdown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Bubble Sort —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dsaengine.cpp  ·  bubbleSortById()  ·  exact code from our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132320" cy="384048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E56"/>
                </a:solidFill>
              </a:rPr>
              <a:t>dsaengine.cpp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35608"/>
            <a:ext cx="6858000" cy="3456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BUBBLE SORT — O(n²) time, O(1) space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Compare adjacent pairs; swap if out of order.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After each outer pass, largest element is at end.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void DSAEngine::bubbleSortById(std::vector&lt;AssetRecord&gt; &amp;assets)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int n = (int)assets.size();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for (int i = 0; i &lt; n - 1; i++) {           // n-1 passes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for (int j = 0; j &lt; n - i - 1; j++) {   // shrinks each pass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if (assets[j].id &gt; assets[j+1].id)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AssetRecord tmp = assets[j];     // swap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assets[j]       = assets[j+1];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assets[j+1]     = tmp;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143000"/>
            <a:ext cx="4206240" cy="384048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2527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60020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Outer loop: runs n-1 times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Inner loop: reduces by i each pass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Total comparisons: n(n-1)/2  →  O(n²)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No extra memory — swap in-place  →  O(1) space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Used by: 'ID (Bubble Sort)' and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'Value (Bubble Sort)' in sort dropdown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Located: assetwindow.cpp → sortAssets()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Selection Sort —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dsaengine.cpp  ·  selectionSortByName()  ·  O(n²) but fewer swaps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132320" cy="411480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8580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SELECTION SORT — O(n²) time, O(1) space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Find the minimum in the unsorted portion,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then swap it into its correct position.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void DSAEngine::selectionSortByName(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std::vector&lt;AssetRecord&gt; &amp;assets)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int n = (int)assets.size();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for (int i = 0; i &lt; n - 1; i++)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int minIdx = i;                    // assume current is min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for (int j = i + 1; j &lt; n; j++)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if (assets[j].name &lt; assets[minIdx].name)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minIdx = j;               // found new minimum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if (minIdx != i) {                // swap only if needed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AssetRecord tmp   = assets[i];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assets[i]         = assets[minIdx];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assets[minIdx]    = tmp;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143000"/>
            <a:ext cx="4206240" cy="411480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2527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vs Bubble 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0020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Same O(n²) as Bubble Sort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Key difference: at most n-1 swaps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(Bubble Sort can swap n²/2 times)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Used by: 'Name (Selection Sort)'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and 'Location (Selection Sort)'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in Asset Manager sort dropdown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Also: sortCombo in assetwindow.cpp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calls m_dsa.selectionSortByName()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Linear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securitycheckwindow.cpp  ·  SQL LIKE = linear scan  ·  O(n)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132320" cy="320040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85800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Oracle SQL in SecurityCheckWindow::searchItem()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This is linear search — scans every row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si.ITEM_ID, u.FULL_NAME, u.STUDENT_ID,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si.ITEM_NAME, si.CATEGORY, si.BRAND, si.STATUS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FROM   STUDENT_ITEMS si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JOIN   USERS u ON si.STUDENT_ID = u.USER_ID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WHERE  LOWER(si.SERIAL_NUMBER) = LOWER(:serial)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OR LOWER(si.ITEM_NAME)    LIKE LOWER(:likeSerial)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OR LOWER(si.BRAND)        LIKE LOWER(:likeSerial)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Oracle scans every row in STUDENT_ITEMS = O(n)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Our BST pre-check does the same in O(log 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143000"/>
            <a:ext cx="4206240" cy="320040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2527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Linear vs BST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00200"/>
            <a:ext cx="3931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SQL WHERE with LIKE = full table scan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Oracle evaluates every row  →  O(n)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For 1000 items: up to 1000 comparisons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Our BST index cuts this to O(log n)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= ~10 comparisons for 1000 items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BST result shown in blue bar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in SecurityCheckWindow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663440"/>
            <a:ext cx="1143000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700016"/>
            <a:ext cx="1121054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The BST pre-check in our app finds serial in O(log n) BEFORE the DB query runs — shown live in Security Check window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Linked 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Custom Singly-Linked List  ·  Dynamic memory  ·  O(1) enqueue/dequeue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Linked List —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Each node stores data + a pointer to the next node  ·  dynamic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B"/>
                </a:solidFill>
              </a:rPr>
              <a:t>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6E56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45920"/>
            <a:ext cx="1828800" cy="658368"/>
          </a:xfrm>
          <a:prstGeom prst="rect">
            <a:avLst/>
          </a:prstGeom>
          <a:solidFill>
            <a:srgbClr val="282838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1907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DD6F4"/>
                </a:solidFill>
              </a:rPr>
              <a:t>ADD: Laptop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6E5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645920"/>
            <a:ext cx="1828800" cy="658368"/>
          </a:xfrm>
          <a:prstGeom prst="rect">
            <a:avLst/>
          </a:prstGeom>
          <a:solidFill>
            <a:srgbClr val="282838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71907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DD6F4"/>
                </a:solidFill>
              </a:rPr>
              <a:t>EDIT: Chair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8288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6E5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645920"/>
            <a:ext cx="1828800" cy="658368"/>
          </a:xfrm>
          <a:prstGeom prst="rect">
            <a:avLst/>
          </a:prstGeom>
          <a:solidFill>
            <a:srgbClr val="282838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71907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DD6F4"/>
                </a:solidFill>
              </a:rPr>
              <a:t>DELETE: 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8288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6E56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645920"/>
            <a:ext cx="1828800" cy="658368"/>
          </a:xfrm>
          <a:prstGeom prst="rect">
            <a:avLst/>
          </a:prstGeom>
          <a:solidFill>
            <a:srgbClr val="F38BA8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71907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DD6F4"/>
                </a:solidFill>
              </a:rPr>
              <a:t>null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669280" cy="320040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61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Why Linked List?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08960"/>
            <a:ext cx="5394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HEAD pointer: first node in list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TAIL pointer: last node (for O(1) append)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Each LLNode holds: data (string) + next pointer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Enqueue (append at tail): O(1) — just update tail-&gt;next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Dequeue (remove from head): O(1) — advance HEAD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No wasted memory — grows/shrinks dynamically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vs std::queue: same performance, but we own the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51760"/>
            <a:ext cx="5577840" cy="228600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743200"/>
            <a:ext cx="5303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struct LLNode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std::string data;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LLNode     *next = nullptr;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explicit LLNode(const std::string &amp;d) : data(d) {}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HEAD and TAIL pointers in DSAEngine: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LLNode *m_llHead = nullptr;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LLNode *m_llTail = nullptr;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6071616"/>
            <a:ext cx="1121054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File: dsaengine.h — struct LLNode  ·  Used as the Action Log in dsaengine.cpp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Linked List —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dsaengine.cpp  ·  llEnqueue() and llDequeue()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132320" cy="475488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858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ENQUEUE — append at tail  O(1)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void DSAEngine::llEnqueue(const std::string &amp;action)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LLNode *node = new LLNode(action);   // allocate O(1)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if (!m_llTail)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m_llHead = m_llTail = node;      // list was empty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} else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m_llTail-&gt;next = node;           // link at tail O(1)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m_llTail       = node;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++m_llCount;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DEQUEUE — remove from head  O(1)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std::string DSAEngine::llDequeue()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if (!m_llHead) return "";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std::string val = m_llHead-&gt;data;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LLNode *old = m_llHead;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m_llHead    = m_llHead-&gt;next;        // advance head O(1)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if (!m_llHead) m_llTail = nullptr;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delete old;                          // free memory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--m_llCount;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return val;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143000"/>
            <a:ext cx="4206240" cy="475488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2527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Where It's Called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0020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Enqueue called in assetwindow.cpp: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m_dsa.enqueueAction('ADD: '+name)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m_dsa.enqueueAction('EDIT: '+name)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m_dsa.enqueueAction('DELETE: '+name)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Dequeue available for audit log export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llContents() shows all actions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top-to-bottom for report screen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Memory freed in ~DSAEngine()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destructor — no memory leak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Stacks &amp; Queues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Stack (LIFO) for Undo/Redo  ·  Queue via custom Linked List for Action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Stack — Undo/Redo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LIFO (Last In First Out)  ·  O(1) push and pop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114800"/>
            <a:ext cx="3200400" cy="749808"/>
          </a:xfrm>
          <a:prstGeom prst="rect">
            <a:avLst/>
          </a:prstGeom>
          <a:solidFill>
            <a:srgbClr val="45475A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Add Laptop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00400"/>
            <a:ext cx="3200400" cy="749808"/>
          </a:xfrm>
          <a:prstGeom prst="rect">
            <a:avLst/>
          </a:prstGeom>
          <a:solidFill>
            <a:srgbClr val="28382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2918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Edit Chair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3200400" cy="749808"/>
          </a:xfrm>
          <a:prstGeom prst="rect">
            <a:avLst/>
          </a:prstGeom>
          <a:solidFill>
            <a:srgbClr val="0F6E56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DD6F4"/>
                </a:solidFill>
              </a:rPr>
              <a:t>Delete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6E3A1"/>
                </a:solidFill>
              </a:rPr>
              <a:t>UNDO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6E56"/>
                </a:solidFill>
              </a:rPr>
              <a:t>← TOP (pop here)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← push new action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188720"/>
            <a:ext cx="8046720" cy="411480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12984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Undo/Redo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1645919"/>
            <a:ext cx="7772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1. User ADDS asset  → pushUndo(ADD snapshot)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2. User EDITS asset → pushUndo(EDIT snapshot)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3. User clicks UNDO → popUndo() returns EDIT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 → reverses the edit in Oracle DB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 → pushRedo(snap) for redo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4. User clicks REDO → popRedo() re-applies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MAX_STACK_SIZE = 20  → bounded memory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clearRedo() called on every new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86400"/>
            <a:ext cx="2560320" cy="29260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5046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push O(1)  ·  pop O(1)  ·  Space O(n) where n ≤ 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486400"/>
            <a:ext cx="868680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5522976"/>
            <a:ext cx="846734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See 'Undo: N | Redo: N' counter in Asset Manager top-right — live in the 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Stack —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dsaengine.cpp  ·  pushUndo() / popUndo()  ·  uses std::stack internally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132320" cy="484632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8580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PUSH — O(1) amortized (O(n) only at MAX_STACK_SIZE cap)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void DSAEngine::pushUndo(const AssetSnapshot &amp;snap)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// Cap at 20 — drain oldest entry if full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if ((int)m_undoStack.size() &gt;= MAX_STACK_SIZE)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std::stack&lt;AssetSnapshot&gt; temp;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while (m_undoStack.size() &gt; 1)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temp.push(m_undoStack.top());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m_undoStack.pop();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m_undoStack.pop(); // remove oldest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while (!temp.empty())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m_undoStack.push(temp.top());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temp.pop();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m_undoStack.push(snap);   // O(1)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POP — O(1)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AssetSnapshot DSAEngine::popUndo()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AssetSnapshot snap = m_undoStack.top();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m_undoStack.pop();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return snap;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143000"/>
            <a:ext cx="4206240" cy="484632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2527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AssetSnapshot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0020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AssetSnapshot stores: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assetId, assetName, category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condition, serialNumber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purchaseValue, action type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ActionType enum: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ADD_ASSET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DELETE_ASSET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EDIT_ASSET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undoAction() in assetwindow.cpp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reverses each action type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by calling matching Oracle SQL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Recursion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A function that calls itself  ·  Used in BST + DFS + Merge 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Recursion in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5 recursive functions — all in dsaengine.cpp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94760" cy="1828800"/>
          </a:xfrm>
          <a:prstGeom prst="rect">
            <a:avLst/>
          </a:prstGeom>
          <a:solidFill>
            <a:srgbClr val="202030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801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BA6F7"/>
                </a:solidFill>
              </a:rPr>
              <a:t>bstInsertHelper()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19072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BST insert
Goes left/right recursively
until empty node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188720"/>
            <a:ext cx="3794760" cy="1828800"/>
          </a:xfrm>
          <a:prstGeom prst="rect">
            <a:avLst/>
          </a:prstGeom>
          <a:solidFill>
            <a:srgbClr val="202030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2801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BA6F7"/>
                </a:solidFill>
              </a:rPr>
              <a:t>bstSearchHelper()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1719072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BST search
Compares serial, goes
left or right each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794760" cy="1828800"/>
          </a:xfrm>
          <a:prstGeom prst="rect">
            <a:avLst/>
          </a:prstGeom>
          <a:solidFill>
            <a:srgbClr val="202030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12801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BA6F7"/>
                </a:solidFill>
              </a:rPr>
              <a:t>bstClearHelper()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719072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BST memory cleanup
Post-order traversal
delete left→right→node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3794760" cy="1828800"/>
          </a:xfrm>
          <a:prstGeom prst="rect">
            <a:avLst/>
          </a:prstGeom>
          <a:solidFill>
            <a:srgbClr val="202030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2918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BA6F7"/>
                </a:solidFill>
              </a:rPr>
              <a:t>bstHeightHelper()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730752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BST height
max(left,right)+1
base case = null →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200400"/>
            <a:ext cx="3794760" cy="1828800"/>
          </a:xfrm>
          <a:prstGeom prst="rect">
            <a:avLst/>
          </a:prstGeom>
          <a:solidFill>
            <a:srgbClr val="202030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32918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BA6F7"/>
                </a:solidFill>
              </a:rPr>
              <a:t>graphDFS()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730752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Graph DFS
Visit node, recurse into
each unvisited neighbour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035040"/>
            <a:ext cx="1161288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071616"/>
            <a:ext cx="1139342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Recursion rule: every recursive function has a BASE CASE (stops the recursion) and a RECURSIVE CASE (calls itself with smaller input)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Recursion — BST Insert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dsaengine.cpp  ·  bstInsertHelper()  ·  recursive divide &amp;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484632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BSTNode* DSAEngine::bstInsertHelper(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BSTNode *node, const std::string &amp;serial, int itemId)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// BASE CASE: empty spot found — create new node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if (!node)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return new BSTNode(serial, itemId);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// RECURSIVE CASE: go left or right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if (serial &lt; node-&gt;serial)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node-&gt;left  = bstInsertHelper(node-&gt;left,  serial, itemId);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else if (serial &gt; node-&gt;serial)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node-&gt;right = bstInsertHelper(node-&gt;right, serial, itemId);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// duplicate serial: ignore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return node;   // return (possibly updated) node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Call stack example for inserting "SN-005":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  bstInsertHelper(root, "SN-005", 42)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    → serial &gt; root.serial → go right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    → bstInsertHelper(root-&gt;right, "SN-005", 42)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      → node is null → return new BSTNode("SN-005", 42)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126480"/>
            <a:ext cx="2560320" cy="29260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447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Each call reduces search space by ~half  →  O(log n) depth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Trees — Binary Search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BST for serial number indexing  ·  O(log n) search  ·  in-order traversal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Binary Search Tree —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Left &lt; Root &lt; Right  ·  guarantees O(log n) search on average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371600"/>
            <a:ext cx="155448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68112" y="144475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SN-050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377440"/>
            <a:ext cx="155448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5059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SN-020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377440"/>
            <a:ext cx="155448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245059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SN-080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383280"/>
            <a:ext cx="155448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345643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SN-010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3383280"/>
            <a:ext cx="155448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45643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SN-035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383280"/>
            <a:ext cx="155448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345643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SN-065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3383280"/>
            <a:ext cx="155448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345643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SN-095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245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BST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7200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Property: left subtree &lt; node &lt; right subtree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Insert SN-040: SN-040&gt;SN-020, SN-040&gt;SN-035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→ goes right of SN-035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Search SN-035: root→left→right = 3 comparisons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In-order traversal = sorted serial numbers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Height = log₂(7) ≈ 3  →  max 3 comparisons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Used in: SecurityCheckWindow.loadSerialsBST()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6437376"/>
            <a:ext cx="1121054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Blue info bar in Security Check shows: 'BST: FOUND in O(log n) ≈ X comparisons'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BST — Search &amp; Load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securitycheckwindow.cpp + dsaengine.cpp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484632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── LOAD all serials into BST on window open ──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void SecurityCheckWindow::loadSerialsBST()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m_dsa.bstClear();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QSqlQuery q(QSqlDatabase::database());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q.exec("SELECT ITEM_ID, SERIAL_NUMBER "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"FROM STUDENT_ITEMS WHERE SERIAL_NUMBER IS NOT NULL");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int loaded = 0;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while (q.next())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int     id  = q.value(0).toInt();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QString ser = q.value(1).toString().trimmed().toLower();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if (!ser.isEmpty()) { m_dsa.bstInsert(ser.toStdString(), id); ++loaded;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int h = m_dsa.bstHeight();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bstLabel-&gt;setText(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QString("BST Index: %1 serials | Height: %2 | "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"Search cost: O(log n) ≈ %3 comparisons")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.arg(loaded).arg(h).arg((int)ceil(log2(loaded+1))));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── SEARCH during serial lookup ──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bool bstHit = m_dsa.bstSearch(serial.toLower().toStdString(), bstItemId);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if (bstHit)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bstLabel-&gt;setText("BST: FOUND in O(log n) ≈ " + logN + " comparisons");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172200"/>
            <a:ext cx="2560320" cy="29260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904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Build BST: O(n log n)  ·  Each search: O(log n)  ·  Space: O(n)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Graphs — BFS &amp; DFS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Campus Building Graph  ·  10 nodes  ·  12 edges  ·  BFS shortest path  ·  DFS traversal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Campus Graph — Adjacency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10 DBU campus buildings as nodes  ·  12 undirected edges as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435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Main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6276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Library, Admin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2435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6276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Main Gate, College of Computing, Cafeteria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4884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2037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Admin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5877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Main Gate, College of Computing, Lab Block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4884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2037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College of Computing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5877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Library, Admin Block, Lab Block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0896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163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Lab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5478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Admin Block, College of Computing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163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Cafeteria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5478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Library, Sports Complex, Dormitory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6908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1239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Sports Complex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5079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Cafeteria, Dormitory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06908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1239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Dormitory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5079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Cafeteria, Medical Center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02920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5084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Dormitory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54681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Sports Complex, Medical Center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029200"/>
            <a:ext cx="566928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084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</a:rPr>
              <a:t>Medical Center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54681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→  Dormitory A, Dormitory 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080760"/>
            <a:ext cx="1152144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6117336"/>
            <a:ext cx="1130198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graphInit() in dsaengine.cpp builds this graph at startup using graphAddEdge() — 12 calls for 12 edges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Graph — BFS Shortest Path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dsaengine.cpp  ·  graphBFS()  ·  uses std::queue + parent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315200" cy="502920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70408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std::vector&lt;std::string&gt; DSAEngine::graphBFS(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const std::string &amp;start, const std::string &amp;end) const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std::unordered_map&lt;std::string,std::string&gt; parent;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std::queue&lt;std::string&gt;                     bfsQ;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std::unordered_set&lt;std::string&gt;             visited;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bfsQ.push(start);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visited.insert(start);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parent[start] = "";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while (!bfsQ.empty())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std::string node = bfsQ.front();  // FIFO — process level by level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bfsQ.pop();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if (node == end)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// Reconstruct path: walk parent pointers back to start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std::vector&lt;std::string&gt; path;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for (std::string cur=end; cur!=""; cur=parent[cur])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path.push_back(cur);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std::reverse(path.begin(), path.end());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return path;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for (const std::string &amp;nb : m_graph.at(node))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if (!visited.count(nb))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visited.insert(nb); parent[nb]=node; bfsQ.push(nb);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return {};  // no path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43000"/>
            <a:ext cx="4114800" cy="502920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52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BFS 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60020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Uses a queue (FIFO) — links Ch.3/4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parent[] map records the path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Guarantees SHORTEST path in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unweighted graph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Example result: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Main Gate → Library →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College of Computing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= 2 hops (shortest possible)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Complexity: O(V+E) = O(10+12)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V = buildings, E = paths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Graph — DFS Traversal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dsaengine.cpp  ·  graphDFS()  ·  recursive  ·  links to Ch.5 Recursion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315200" cy="502920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70408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DFS — visit node, recurse into each unvisited neighbour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Uses recursion (implicit call stack = Ch.5 connection)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std::vector&lt;std::string&gt; DSAEngine::graphDFS(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const std::string &amp;start) const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std::vector&lt;std::string&gt;        visited;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std::unordered_set&lt;std::string&gt; seen;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// Lambda captures visited/seen by reference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std::function&lt;void(const std::string&amp;)&gt; dfs =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[&amp;](const std::string &amp;node)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seen.insert(node);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visited.push_back(node);           // record visit order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auto it = m_graph.find(node);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if (it == m_graph.end()) return;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for (const std::string &amp;nb : it-&gt;second)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if (!seen.count(nb))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    dfs(nb);                   // RECURSIVE CALL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};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if (m_graph.count(start))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dfs(start);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return visited;   // visit order from start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43000"/>
            <a:ext cx="4114800" cy="502920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52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DFS vs BFS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60020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Recursive lambda = Ch.5 recursion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seen set prevents revisiting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visited vector = output order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BFS vs DFS: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BFS: level by level (queue)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DFS: depth first (recursion)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BFS: guaranteed shortest path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DFS: full connectivity check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O(V+E) — same as BFS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Used in: Campus Graph window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'▶ Run DFS' button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Advanced 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Merge Sort (Divide &amp; Conquer)  ·  O(n log n)  ·  vs Bubble O(n²)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Merge Sort — Divide &amp; Conquer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T(n) = 2T(n/2) + O(n)  →  O(n log n)  ·  Ch.8 + Ch.9 combined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1188720"/>
            <a:ext cx="18288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85232" y="1243584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BA6F7"/>
                </a:solidFill>
              </a:rPr>
              <a:t>[38,27,43,3]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920240"/>
            <a:ext cx="18288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1975104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9B4FA"/>
                </a:solidFill>
              </a:rPr>
              <a:t>[38,27]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920240"/>
            <a:ext cx="18288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1975104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9B4FA"/>
                </a:solidFill>
              </a:rPr>
              <a:t>[43,3]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651760"/>
            <a:ext cx="13716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706624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6E3A1"/>
                </a:solidFill>
              </a:rPr>
              <a:t>[38]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651760"/>
            <a:ext cx="13716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2706624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6E3A1"/>
                </a:solidFill>
              </a:rPr>
              <a:t>[27]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651760"/>
            <a:ext cx="13716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706624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6E3A1"/>
                </a:solidFill>
              </a:rPr>
              <a:t>[43]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651760"/>
            <a:ext cx="13716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2706624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6E3A1"/>
                </a:solidFill>
              </a:rPr>
              <a:t>[3]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3429000"/>
            <a:ext cx="18288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3472" y="3483864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E2AF"/>
                </a:solidFill>
              </a:rPr>
              <a:t>[27,38]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3429000"/>
            <a:ext cx="18288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3483864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E2AF"/>
                </a:solidFill>
              </a:rPr>
              <a:t>[3,43]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4160520"/>
            <a:ext cx="1828800" cy="475488"/>
          </a:xfrm>
          <a:prstGeom prst="rect">
            <a:avLst/>
          </a:prstGeom>
          <a:solidFill>
            <a:srgbClr val="202030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85232" y="4215383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6E56"/>
                </a:solidFill>
              </a:rPr>
              <a:t>[3,27,38,43]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651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DIVIDE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429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← MERGE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00600"/>
            <a:ext cx="11521440" cy="182880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10328"/>
            <a:ext cx="112471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Why Merge Sort?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112471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DIVIDE: split in half recursively until size=1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CONQUER: merge two sorted halves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Recurrence: T(n) = 2T(n/2) + O(n)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→ O(n log n) by Master Theorem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• For 500 assets: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Bubble: 500×500 = 250,000 ops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DD6F4"/>
                </a:solidFill>
              </a:rPr>
              <a:t>  Merge:  500×9 ≈ 4,500 ops  (55× faster!)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Merge Sort —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dsaengine.cpp  ·  mergeSortByValue()  ·  recursive divide &amp; conquer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315200" cy="521208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70408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Entry point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void DSAEngine::mergeSortByValue(std::vector&lt;AssetRecord&gt; &amp;assets)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if (assets.size() &gt; 1)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mergeSortHelperByValue(assets, 0, (int)assets.size()-1);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DIVIDE step — recursive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void DSAEngine::mergeSortHelperByValue(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std::vector&lt;AssetRecord&gt; &amp;a, int l, int r)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if (l &gt;= r) return;                    // BASE CASE: size 1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int m = l + (r - l) / 2;              // find midpoint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mergeSortHelperByValue(a, l, m);       // sort left half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mergeSortHelperByValue(a, m+1, r);     // sort right half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mergeByValue(a, l, m, r);             // CONQUER: merge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// CONQUER step — merge two sorted halves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void DSAEngine::mergeByValue(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std::vector&lt;AssetRecord&gt; &amp;a, int l, int m, int r)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std::vector&lt;AssetRecord&gt; left (a.begin()+l,   a.begin()+m+1);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std::vector&lt;AssetRecord&gt; right(a.begin()+m+1, a.begin()+r+1);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int i=0, j=0, k=l;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while (i&lt;(int)left.size() &amp;&amp; j&lt;(int)right.size())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a[k++] = (left[i].value &lt;= right[j].value)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   ? left[i++] : right[j++];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while (i&lt;(int)left.size())  a[k++]=left[i++];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while (j&lt;(int)right.size()) a[k++]=right[j++];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43000"/>
            <a:ext cx="4114800" cy="521208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52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600200"/>
            <a:ext cx="3840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UI: select 'Value (Merge Sort - D&amp;C)'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in sort dropdown → calls: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m_dsa.mergeSortByValue(records)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in assetwindow.cpp sortAssets()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Also available: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mergeSortByName() — same logic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for alphabetical sort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Time: O(n log n) all cases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Space: O(n) auxiliary buffer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(left/right temp vectors)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Compare on same data with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Bubble Sort to show difference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Algorithmic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Greedy Scheduling  ·  Divide &amp; Conquer  ·  Brute Force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Greedy Algorithm — Maintenance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Always pick the locally optimal choice → globally optimal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Greedy Score = Priority Weight + Status Weight: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749039" cy="1234440"/>
          </a:xfrm>
          <a:prstGeom prst="rect">
            <a:avLst/>
          </a:prstGeom>
          <a:solidFill>
            <a:srgbClr val="202030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737360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8BA8"/>
                </a:solidFill>
              </a:rPr>
              <a:t>URGENT +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4884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</a:rPr>
              <a:t>40+20 =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46888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6E56"/>
                </a:solidFill>
              </a:rPr>
              <a:t>#1 — Fix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749039" cy="1234440"/>
          </a:xfrm>
          <a:prstGeom prst="rect">
            <a:avLst/>
          </a:prstGeom>
          <a:solidFill>
            <a:srgbClr val="202030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737360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8BA8"/>
                </a:solidFill>
              </a:rPr>
              <a:t>URGENT + IN_PROGRESS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14884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</a:rPr>
              <a:t>40+10 =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46888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6E56"/>
                </a:solidFill>
              </a:rPr>
              <a:t>#2 — Already started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749039" cy="1234440"/>
          </a:xfrm>
          <a:prstGeom prst="rect">
            <a:avLst/>
          </a:prstGeom>
          <a:solidFill>
            <a:srgbClr val="202030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737360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HIGH + 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14884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</a:rPr>
              <a:t>30+20 =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46888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6E56"/>
                </a:solidFill>
              </a:rPr>
              <a:t>#3 — Next in queue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3749039" cy="1234440"/>
          </a:xfrm>
          <a:prstGeom prst="rect">
            <a:avLst/>
          </a:prstGeom>
          <a:solidFill>
            <a:srgbClr val="202030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154680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HIGH + IN_PROGRESS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56616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</a:rPr>
              <a:t>30+10 = 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88620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6E56"/>
                </a:solidFill>
              </a:rPr>
              <a:t>#4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063240"/>
            <a:ext cx="3749039" cy="1234440"/>
          </a:xfrm>
          <a:prstGeom prst="rect">
            <a:avLst/>
          </a:prstGeom>
          <a:solidFill>
            <a:srgbClr val="202030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3154680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NORMAL + 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56616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</a:rPr>
              <a:t>20+20 = 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88620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6E56"/>
                </a:solidFill>
              </a:rPr>
              <a:t>#5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063240"/>
            <a:ext cx="3749039" cy="1234440"/>
          </a:xfrm>
          <a:prstGeom prst="rect">
            <a:avLst/>
          </a:prstGeom>
          <a:solidFill>
            <a:srgbClr val="202030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3154680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475A"/>
                </a:solidFill>
              </a:rPr>
              <a:t>LOW + RESOLVED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56616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D6F4"/>
                </a:solidFill>
              </a:rPr>
              <a:t>10+0  =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88620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6E56"/>
                </a:solidFill>
              </a:rPr>
              <a:t>#Last — 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035040"/>
            <a:ext cx="1152144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071616"/>
            <a:ext cx="1130198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Greedy choice property: picking highest-score task first minimizes maximum waiting time for critical assets — provably optimal for this scheduling problem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Greedy —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maintenancewindow.cpp  ·  greedyPrioritize()  ·  ⚡ Auto-Prioritize button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void MaintenanceWindow::greedyPrioritize()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struct Row { int score; QStringList cols; QVector&lt;QColor&gt; fgColors; };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QVector&lt;Row&gt; rows;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for (int r = 0; r &lt; table-&gt;rowCount(); r++)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Row row; row.score = 0;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for (int c = 0; c &lt; table-&gt;columnCount(); c++) {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auto *it = table-&gt;item(r,c);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row.cols     &lt;&lt; (it ? it-&gt;text()           : "");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row.fgColors &lt;&lt; (it ? it-&gt;foreground().color() : QColor("#cdd6f4"));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// GREEDY KEY: assign urgency score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const QString &amp;pri = row.cols[4];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if      (pri=="URGENT") row.score += 40;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else if (pri=="HIGH")   row.score += 30;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else if (pri=="NORMAL") row.score += 20;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else                    row.score += 10;   // LOW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// Status modifier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const QString &amp;st = row.cols[5];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if      (st=="PENDING")     row.score += 20;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else if (st=="IN_PROGRESS") row.score += 10;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rows.append(row);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// GREEDY SELECTION: sort descending by score — O(n log n)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std::sort(rows.begin(), rows.end(),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      [](const Row &amp;a, const Row &amp;b){ return a.score &gt; b.score; });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// Repopulate table in greedy order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table-&gt;setRowCount(0);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for (const Row &amp;row : rows) { /* insert rows back */ }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537960"/>
            <a:ext cx="2560320" cy="29260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Time: O(n log n) for std::sort  ·  Space: O(n) for row buffer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Oracle DB — Reset &amp;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How to connect, reset tables, test stored procedures, and verify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Oracle XE — Connection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How the app connects  ·  widget.cpp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00" cy="475488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7040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Connection string in widget.cpp: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db.setDatabaseName(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"Driver={Oracle in XE};"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"DBQ=127.0.0.1:1522/xe;"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db.setUserName("campus_admin");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db.setPassword("campus123");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Connect via SQL*Plus (command line):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sqlplus campus_admin/campus123@//127.0.0.1:1522/xe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Or via Oracle SQL Developer: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Host:     127.0.0.1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Port:     1522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SID/Svc:  xe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Username: campus_admin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Password: campus123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Check connection is alive: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'Connected as: ' || USER FROM DUAL;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88720"/>
            <a:ext cx="4206240" cy="475488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9844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Oracle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645919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Oracle XE must be running before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launching the app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Start Oracle service (Windows):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net start OracleServiceXE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net start OracleXETNSListener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Check service status: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sc query OracleServiceXE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If port 1522 is busy: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netstat -ano | findstr 1522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Oracle — Reset / Clear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Use these in SQL*Plus or SQL Developer to reset to clean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① Disable foreign keys temporarily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ALTER TABLE MAINTENANCE_LOG DISABLE CONSTRAINT FK_MAINT_ASSET;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ALTER TABLE STUDENT_ITEMS   DISABLE CONSTRAINT FK_ITEMS_USER;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ALTER TABLE LOST_FOUND      DISABLE CONSTRAINT FK_LF_USER;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② Clear child tables first (order matters!)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DELETE FROM MAINTENANCE_LOG;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DELETE FROM LOST_FOUND;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DELETE FROM STUDENT_ITEMS;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③ Clear parent tables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DELETE FROM ASSETS;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DELETE FROM USERS WHERE ROLE != 'ADMIN';  -- keep admin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④ Reset sequences (auto-increment IDs back to 1)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DROP SEQUENCE SEQ_ASSETS;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CREATE SEQUENCE SEQ_ASSETS START WITH 1 INCREMENT BY 1;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DROP SEQUENCE SEQ_MAINTENANCE;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CREATE SEQUENCE SEQ_MAINTENANCE START WITH 1 INCREMENT BY 1;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⑤ Re-enable foreign keys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ALTER TABLE MAINTENANCE_LOG ENABLE CONSTRAINT FK_MAINT_ASSET;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ALTER TABLE STUDENT_ITEMS   ENABLE CONSTRAINT FK_ITEMS_USER;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⑥ Commit everything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COMMIT;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⑦ Verify counts (should all be 0 or 1 for admin)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COUNT(*) FROM ASSETS;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COUNT(*) FROM MAINTENANCE_LOG;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COUNT(*) FROM STUDENT_ITEMS;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583680"/>
            <a:ext cx="1143000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20256"/>
            <a:ext cx="1121054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Always COMMIT after deletes — Oracle does NOT auto-commit unlike MySQL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Oracle — Insert 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Seed the database for a full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55778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Insert test users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USERS(USER_ID,FULL_NAME,STUDENT_ID,EMAIL,ROLE,PASSWORD_HASH)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VALUES(1,'Admin User','ADM001','admin@dbu.edu.et','ADMIN','admin123');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USERS(USER_ID,FULL_NAME,STUDENT_ID,EMAIL,ROLE,PASSWORD_HASH)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VALUES(2,'Bereket Tadesse','DBU/1234/15','berek@dbu.edu.et','STUDENT','pass123');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USERS(USER_ID,FULL_NAME,STUDENT_ID,EMAIL,ROLE,PASSWORD_HASH)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VALUES(3,'Security Guard','SEC001','sec@dbu.edu.et','SECURITY','sec123');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Insert test assets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ASSETS(ASSET_ID,ASSET_NAME,CATEGORY,SERIAL_NUMBER,PURCHASE_VALUE,CONDITION,CREATED_BY)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VALUES(SEQ_ASSETS.NEXTVAL,'Dell Laptop 15','IT_EQUIPMENT','DL-2024-001',45000,'GOOD',1);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ASSETS(ASSET_ID,ASSET_NAME,CATEGORY,SERIAL_NUMBER,PURCHASE_VALUE,CONDITION,CREATED_BY)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VALUES(SEQ_ASSETS.NEXTVAL,'Projector Epson','IT_EQUIPMENT','EP-2023-042',28000,'GOOD',1);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ASSETS(ASSET_ID,ASSET_NAME,CATEGORY,SERIAL_NUMBER,PURCHASE_VALUE,CONDITION,CREATED_BY)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VALUES(SEQ_ASSETS.NEXTVAL,'Lab Microscope','LAB_EQUIPMENT','MIC-001',120000,'UNDER_MAINTENANCE',1);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Insert student items (for BST + Security demo)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STUDENT_ITEMS(ITEM_ID,STUDENT_ID,ITEM_NAME,CATEGORY,BRAND,SERIAL_NUMBER,STATUS)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VALUES(1,2,'MacBook Pro','LAPTOP','Apple','MB-PRO-2024-XYZ','REGISTERED');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STUDENT_ITEMS(ITEM_ID,STUDENT_ID,ITEM_NAME,CATEGORY,BRAND,SERIAL_NUMBER,STATUS)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VALUES(2,2,'Samsung Phone','PHONE','Samsung','SM-G998B-123','REGISTERED');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Insert maintenance log (for Greedy demo)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BEGIN SP_REPORT_ISSUE(1,1,'BROKEN','Screen cracked','URGENT'); END;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BEGIN SP_REPORT_ISSUE(1,2,'MISSING','Power cable lost','NORMAL'); END;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COMMIT;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Oracle — Test Stored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Verify SP_REPORT_ISSUE and SP_RESOLVE_MAINTENANCE work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55778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① Test SP_REPORT_ISSUE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BEGIN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SP_REPORT_ISSUE(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:asset_id   =&gt; 1,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:reported_by =&gt; 1,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:issue_type  =&gt; 'BROKEN',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:description =&gt; 'Keyboard not working',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:priority    =&gt; 'HIGH'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END;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Verify it was inserted: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MAINTENANCE_ID, ASSET_ID, PRIORITY, STATUS, REPORTED_AT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FROM   MAINTENANCE_LOG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ORDER  BY REPORTED_AT DESC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FETCH FIRST 5 ROWS ONLY;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② Test SP_RESOLVE_MAINTENANCE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BEGIN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SP_RESOLVE_MAINTENANCE(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:maintenance_id =&gt; 1,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:resolved_by    =&gt; 1,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    :resolution_note =&gt; 'Replaced keyboard unit'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 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END;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Verify status changed to RESOLVED: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STATUS, RESOLVED_AT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FROM   MAINTENANCE_LOG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WHERE  MAINTENANCE_ID = 1;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③ Test STUDENT_ITEMS status update (Security Check)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UPDATE STUDENT_ITEMS SET STATUS='OUT_OF_CAMPUS' WHERE ITEM_ID=1;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COMMIT;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Then in the app: search 'MB-PRO-2024-XYZ' → should show OUT_OF_CAMPUS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Click 'Mark Returned' → run again → should show REGISTERED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Oracle — Verification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Run these to confirm the app and DB are in 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① Count all tables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'ASSETS'          AS tbl, COUNT(*) AS cnt FROM ASSETS     UNION ALL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'USERS',                  COUNT(*)         FROM USERS      UNION ALL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'STUDENT_ITEMS',          COUNT(*)         FROM STUDENT_ITEMS UNION ALL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'MAINTENANCE_LOG',        COUNT(*)         FROM MAINTENANCE_LOG UNION ALL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'LOST_FOUND',             COUNT(*)         FROM LOST_FOUND;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② Check asset conditions distribution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CONDITION, COUNT(*) AS total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FROM   ASSETS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GROUP  BY CONDITION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ORDER  BY total DESC;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③ Check maintenance priority distribution (matches Greedy scores)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PRIORITY, STATUS, COUNT(*) AS total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FROM   MAINTENANCE_LOG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GROUP  BY PRIORITY, STATUS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ORDER  BY PRIORITY, STATUS;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④ Check student items out of campus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si.SERIAL_NUMBER, u.FULL_NAME, si.STATUS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FROM   STUDENT_ITEMS si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JOIN   USERS u ON si.STUDENT_ID = u.USER_ID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WHERE  si.STATUS = 'OUT_OF_CAMPUS';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⑤ Confirm sequences are working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SELECT SEQ_ASSETS.NEXTVAL FROM DUAL;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If this returns a number, sequences are active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92240"/>
            <a:ext cx="1143000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1121054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Run these queries BEFORE your demo to confirm database is in the expected state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Security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Test the Security Check window  ·  BST verification  ·  role-based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Security Check — Testing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securitycheckwindow.cpp  ·  BST + Oracle integration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749039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435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Test 1: Registered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64208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Search: MB-PRO-2024-XYZ
Expect: green label, Allow Exit enabled
BST bar: FOUND in O(log 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88720"/>
            <a:ext cx="3749039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188720"/>
            <a:ext cx="3749039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2435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Test 2: Out-of-campus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664208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First run: UPDATE STUDENT_ITEMS
SET STATUS='OUT_OF_CAMPUS'
WHERE ITEM_ID=1; COMMIT;
Search again → orange label, Mark Returned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188720"/>
            <a:ext cx="3749039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188720"/>
            <a:ext cx="3749039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2435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Test 3: Unknown serial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664208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Search: FAKE-SN-9999
Expect: red label 'No registered item'
BST bar: NOT in index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20439"/>
            <a:ext cx="3749039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520439"/>
            <a:ext cx="3749039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575303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Test 4: Return 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995927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Click 'Mark Returned'
Check DB: SELECT STATUS FROM
STUDENT_ITEMS WHERE ITEM_ID=1
Expect: REGISTERED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520439"/>
            <a:ext cx="3749039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3520439"/>
            <a:ext cx="3749039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3575303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Test 5: BST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3995927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Count rows in STUDENT_ITEMS
Compare with BST size shown
in blue bar — must match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520439"/>
            <a:ext cx="3749039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520439"/>
            <a:ext cx="3749039" cy="3840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3575303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111B"/>
                </a:solidFill>
              </a:rPr>
              <a:t>Test 6: Role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995927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DD6F4"/>
                </a:solidFill>
              </a:rPr>
              <a:t>Login as STUDENT role
Security Check button must
be HIDDEN (not in sidebar)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Role-Based Access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widget.cpp  ·  applyRoleAccess()  ·  RolePolicy struct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7315200" cy="32918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70408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-- Create test accounts for each role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USERS VALUES(10,'Test Admin',   'A01','a@dbu.et','ADMIN',    'pass');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USERS VALUES(11,'Test Tech',    'T01','t@dbu.et','TECHNICIAN','pass');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USERS VALUES(12,'Test Security','S01','s@dbu.et','SECURITY',  'pass');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USERS VALUES(13,'Test Auditor', 'AU1','u@dbu.et','AUDITOR',   'pass');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INSERT INTO USERS VALUES(14,'Test Student', 'ST1','st@dbu.et','STUDENT',  'pass');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COMMIT;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/* Expected sidebar buttons per role: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ADMIN:      Home Assets Maintenance LostFound MyItems Users Security Graph ✓ all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TECHNICIAN: Home Assets Maintenance LostFound MyItems             Graph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SECURITY:   Home                   LostFound MyItems Security    Graph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AUDITOR:    Home Assets Maintenance LostFound MyItems             Graph</a:t>
            </a:r>
          </a:p>
          <a:p>
            <a:pPr algn="l"/>
            <a:r>
              <a:rPr sz="1050">
                <a:solidFill>
                  <a:srgbClr val="A6E3A1"/>
                </a:solidFill>
                <a:latin typeface="Consolas"/>
              </a:rPr>
              <a:t>   STUDENT:    Home             Maintenance LostFound MyItems        Graph      */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43000"/>
            <a:ext cx="4206240" cy="3291840"/>
          </a:xfrm>
          <a:prstGeom prst="rect">
            <a:avLst/>
          </a:prstGeom>
          <a:solidFill>
            <a:srgbClr val="242437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527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Test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6002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How to test: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1. Login with each test account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2. Check which sidebar buttons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 are visible vs hidden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3. Try navigating directly to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 a blocked screen via code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 → should show 'Access Denied'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• Code location: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widget.cpp line ~103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applyRoleAccess()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DD6F4"/>
                </a:solidFill>
              </a:rPr>
              <a:t>  RolePolicy::forRole()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11430000" cy="411480"/>
          </a:xfrm>
          <a:prstGeom prst="rect">
            <a:avLst/>
          </a:prstGeom>
          <a:solidFill>
            <a:srgbClr val="2A2A1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745736"/>
            <a:ext cx="1121054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E2AF"/>
                </a:solidFill>
              </a:rPr>
              <a:t>⚡ showAccessDenied() in widget.cpp displays a lock screen when role lacks permission — test by calling btnAssets with SECURITY role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6E56"/>
                </a:solidFill>
              </a:rPr>
              <a:t>Chapter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BA6F7"/>
                </a:solidFill>
              </a:rPr>
              <a:t>Live Demo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DD6F4"/>
                </a:solidFill>
              </a:rPr>
              <a:t>Exact click-by-click sequence for a 10-minute presentation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475A"/>
                </a:solidFill>
              </a:rPr>
              <a:t>SEng2022 — Design &amp; Analysis of Data Structures &amp; Algorithms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Demo Click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Follow this order — each step highlights a different DSA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1615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978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Login as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Shows role-based auth → DB query in logindialog.cpp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21615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11978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Asset Manager → Add asset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153619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pushUndo() called → Undo counter increments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1168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08483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0665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Add 2 more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0487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Undo: 3 | Redo: 0 in top bar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208483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20665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Click Undo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40487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popUndo() → Oracle DELETE → Redo: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8036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295351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BA6F7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9352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Sort dropdown → Bubble Sort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7355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bubbleSortById() — O(n²) running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88036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95351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BA6F7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29352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Sort → Merge Sort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327355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mergeSortByValue() — O(n log n) — same result, faster algo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49039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822191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8BA8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80390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Maintenance → ⚡ Auto-Prioritize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142231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greedyPrioritize() — URGENT PENDING moves to 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749039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3822191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380390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Sidebar → Security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4142231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loadSerialsBST() runs — blue bar shows N serials loaded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1772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469087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67258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Type a registered serial →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01091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BST: FOUND in O(log n) ≈ X comparisons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61772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469087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BA6F7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59" y="467258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Sidebar → Campus Graph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59" y="501091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graphInit() — adjacency list displayed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48640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79" y="555955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5412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BFS: Main Gate → Medical Center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87959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Shows shortest path with hop count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486400"/>
            <a:ext cx="566928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555955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59" y="55412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D6F4"/>
                </a:solidFill>
              </a:rPr>
              <a:t>DFS: College of Computing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59" y="587959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475A"/>
                </a:solidFill>
              </a:rPr>
              <a:t>Shows all reachable buildings in DFS order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Expected 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The 6 most likely questions from your examiner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669280" cy="1554480"/>
          </a:xfrm>
          <a:prstGeom prst="rect">
            <a:avLst/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16152"/>
            <a:ext cx="5449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</a:rPr>
              <a:t>Q: Why linked list instead of std::queue?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691640"/>
            <a:ext cx="5449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A: We own the memory. std::queue wraps std::deque which pre-allocates chunks.
Our LLNode allocates exactly what it needs. Also demonstrates Ch.3 directly.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669280" cy="1554480"/>
          </a:xfrm>
          <a:prstGeom prst="rect">
            <a:avLst/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216152"/>
            <a:ext cx="5449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</a:rPr>
              <a:t>Q: BST worst case is O(n) — when?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691640"/>
            <a:ext cx="5449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A: Only when all keys are inserted in sorted order (degenerate = linear chain).
For random serial numbers like SN-2024-XYZ this never happens in practice.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34640"/>
            <a:ext cx="5669280" cy="1554480"/>
          </a:xfrm>
          <a:prstGeom prst="rect">
            <a:avLst/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907792"/>
            <a:ext cx="5449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</a:rPr>
              <a:t>Q: Why not hash table for serial search?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383280"/>
            <a:ext cx="5449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A: Hash table gives O(1) average but loses ordering. BST in-order traversal
gives sorted serials for free — useful for audit reports.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34640"/>
            <a:ext cx="5669280" cy="1554480"/>
          </a:xfrm>
          <a:prstGeom prst="rect">
            <a:avLst/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907792"/>
            <a:ext cx="5449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</a:rPr>
              <a:t>Q: Why Merge Sort and not Quick Sort?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383280"/>
            <a:ext cx="5449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A: Merge Sort is O(n log n) guaranteed worst case. Quick Sort degrades to O(n²)
with bad pivot. We chose stability over average-case performance.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26280"/>
            <a:ext cx="5669280" cy="1554480"/>
          </a:xfrm>
          <a:prstGeom prst="rect">
            <a:avLst/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599432"/>
            <a:ext cx="5449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</a:rPr>
              <a:t>Q: How does Greedy guarantee optimal?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074920"/>
            <a:ext cx="5449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A: Greedy choice property holds: URGENT tasks have higher value-per-time-unit.
Earlier service = less damage = lower total cost. Proven optimal for this scheduling.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26280"/>
            <a:ext cx="5669280" cy="1554480"/>
          </a:xfrm>
          <a:prstGeom prst="rect">
            <a:avLst/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599432"/>
            <a:ext cx="5449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</a:rPr>
              <a:t>Q: DFS vs BFS — when to use which?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5074920"/>
            <a:ext cx="5449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A: BFS = shortest path (uses queue). DFS = check connectivity, detect cycles.
For campus navigation (shortest route) we use BFS. DFS shows full coverage.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Complete DSA Coverage — All 9 Chapters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Every chapter of SEng2022 has a working implementation in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38404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234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Implementation in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23444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CLOs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2344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111B"/>
                </a:solidFill>
              </a:rPr>
              <a:t>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72768"/>
            <a:ext cx="11612880" cy="49377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459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Ch.1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64592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Complexity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645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Big-O headers on every function in dsaengine.cpp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64592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E2AF"/>
                </a:solidFill>
              </a:rPr>
              <a:t>CLO2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6459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84832"/>
            <a:ext cx="11612880" cy="493776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1579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Ch.2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157984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Simple Sorting/Search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1579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bubbleSort×2, selectionSort×2, linear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15798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E2AF"/>
                </a:solidFill>
              </a:rPr>
              <a:t>CLO3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15798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96896"/>
            <a:ext cx="11612880" cy="49377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67004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Ch.3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670048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Linked Lists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2670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Custom singly-LL (LLNode) as action log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67004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E2AF"/>
                </a:solidFill>
              </a:rPr>
              <a:t>CLO1,4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6700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108960"/>
            <a:ext cx="11612880" cy="493776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1821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Ch.4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182112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Stacks &amp; Queues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1821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std::stack for undo/redo, LL for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18211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E2AF"/>
                </a:solidFill>
              </a:rPr>
              <a:t>CLO1,4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318211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621024"/>
            <a:ext cx="11612880" cy="49377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69417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Ch.5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3694176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Recursion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36941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BST insert/search/clear/height + DFS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69417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E2AF"/>
                </a:solidFill>
              </a:rPr>
              <a:t>CLO4,5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69417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133088"/>
            <a:ext cx="11612880" cy="493776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2062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Ch.6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420624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Trees / BST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4206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BST serial index in SecurityCheckWindow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20624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E2AF"/>
                </a:solidFill>
              </a:rPr>
              <a:t>CLO1,4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2062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645152"/>
            <a:ext cx="11612880" cy="49377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71830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Ch.7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4718304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Graphs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7183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Adjacency list + BFS + DFS, CampusGraphWindow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471830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E2AF"/>
                </a:solidFill>
              </a:rPr>
              <a:t>CLO1,4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471830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157216"/>
            <a:ext cx="11612880" cy="493776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2303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Ch.8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5230368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Advanced Sorting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8920" y="52303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Merge Sort O(n log n), compare with bubble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523036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E2AF"/>
                </a:solidFill>
              </a:rPr>
              <a:t>CLO3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52303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669280"/>
            <a:ext cx="11612880" cy="49377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574243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Ch.9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5742432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Algo Strategies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742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DD6F4"/>
                </a:solidFill>
              </a:rPr>
              <a:t>Greedy scheduling + Divide &amp; Conquer (Merge Sort)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09560" y="574243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E2AF"/>
                </a:solidFill>
              </a:rPr>
              <a:t>CLO5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6840" y="5742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6E3A1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731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BA6F7"/>
                </a:solidFill>
              </a:rPr>
              <a:t>Grade Estimate — Project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Based on SEng2022 assessment criteria and CLO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521440" cy="694944"/>
          </a:xfrm>
          <a:prstGeom prst="rect">
            <a:avLst/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CLO2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4358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DD6F4"/>
                </a:solidFill>
              </a:rPr>
              <a:t>Complexity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7276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Big-O on every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280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6E3A1"/>
                </a:solidFill>
              </a:rPr>
              <a:t>20/20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56816"/>
            <a:ext cx="11521440" cy="694944"/>
          </a:xfrm>
          <a:prstGeom prst="rect">
            <a:avLst/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6654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CLO3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1168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DD6F4"/>
                </a:solidFill>
              </a:rPr>
              <a:t>Sorting &amp; Searching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408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4 sort algorithms + linear + BST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0482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6E3A1"/>
                </a:solidFill>
              </a:rPr>
              <a:t>19/20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24912"/>
            <a:ext cx="11521440" cy="694944"/>
          </a:xfrm>
          <a:prstGeom prst="rect">
            <a:avLst/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CLO4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7977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DD6F4"/>
                </a:solidFill>
              </a:rPr>
              <a:t>Apply Appropriate 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Stack/LL/BST/Graph all motivated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81635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6E3A1"/>
                </a:solidFill>
              </a:rPr>
              <a:t>19/20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93008"/>
            <a:ext cx="11521440" cy="694944"/>
          </a:xfrm>
          <a:prstGeom prst="rect">
            <a:avLst/>
          </a:prstGeom>
          <a:solidFill>
            <a:srgbClr val="1E1E2E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0273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CLO5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4787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DD6F4"/>
                </a:solidFill>
              </a:rPr>
              <a:t>Algorithm Strategies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87705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Greedy + Divide &amp; Conquer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5844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E2AF"/>
                </a:solidFill>
              </a:rPr>
              <a:t>18/20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61104"/>
            <a:ext cx="11521440" cy="694944"/>
          </a:xfrm>
          <a:prstGeom prst="rect">
            <a:avLst/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708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CLO6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159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DD6F4"/>
                </a:solidFill>
              </a:rPr>
              <a:t>DS&amp;A Foundation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4515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9 chapters, real-world Qt/Oracle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35254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6E3A1"/>
                </a:solidFill>
              </a:rPr>
              <a:t>20/20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029200"/>
            <a:ext cx="11521440" cy="694944"/>
          </a:xfrm>
          <a:prstGeom prst="rect">
            <a:avLst/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389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CLO7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8406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DD6F4"/>
                </a:solidFill>
              </a:rPr>
              <a:t>Team /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1324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475A"/>
                </a:solidFill>
              </a:rPr>
              <a:t>Multi-module, live demo 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5120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6E3A1"/>
                </a:solidFill>
              </a:rPr>
              <a:t>19/20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833872"/>
            <a:ext cx="11521440" cy="5486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888736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1111B"/>
                </a:solidFill>
              </a:rPr>
              <a:t>Estimated Project Score:  115 / 120  ≈  95 %  →  A+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3291840"/>
            <a:ext cx="11987784" cy="54864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CBA6F7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DD6F4"/>
                </a:solidFill>
              </a:rPr>
              <a:t>Smart Campus Asset Manager — SEng2022 Course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74720"/>
            <a:ext cx="3337560" cy="1005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5661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</a:rPr>
              <a:t>9 Chapters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9319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Complete Ch.1–Ch.9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3474720"/>
            <a:ext cx="3337560" cy="1005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35661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</a:rPr>
              <a:t>5 Data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9319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Stack · Linked List · BST · Graph · Array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474720"/>
            <a:ext cx="3337560" cy="1005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35661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</a:rPr>
              <a:t>4 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9319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Bubble · Selection · Merge Sort · Greedy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663440"/>
            <a:ext cx="3337560" cy="1005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75487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</a:rPr>
              <a:t>Oracle 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12064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Full CRUD with stored procedures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663440"/>
            <a:ext cx="3337560" cy="1005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475487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</a:rPr>
              <a:t>Qt 6 GUI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512064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5 role-based windows + Campus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5475A"/>
                </a:solidFill>
              </a:rPr>
              <a:t>Questions welcome  ·  bekelemengesha@dbu.edu.et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